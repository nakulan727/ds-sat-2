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0" y="0"/>
            <a:ext cx="2926080" cy="6858000"/>
          </a:xfrm>
          <a:prstGeom prst="rect">
            <a:avLst/>
          </a:prstGeom>
          <a:solidFill>
            <a:srgbClr val="1F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20" y="0"/>
            <a:ext cx="1828800" cy="6858000"/>
          </a:xfrm>
          <a:prstGeom prst="rect">
            <a:avLst/>
          </a:prstGeom>
          <a:solidFill>
            <a:srgbClr val="EE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8869680" cy="6858000"/>
          </a:xfrm>
          <a:prstGeom prst="rect">
            <a:avLst/>
          </a:prstGeom>
          <a:solidFill>
            <a:srgbClr val="14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680960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600" b="1" dirty="0">
                <a:solidFill>
                  <a:srgbClr val="EE9139"/>
                </a:solidFill>
                <a:latin typeface="Calibri"/>
              </a:rPr>
              <a:t>DS SPRINT • USE CASE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680960" cy="17373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/>
            <a:r>
              <a:rPr lang="en-US" sz="4400" b="1" dirty="0">
                <a:solidFill>
                  <a:srgbClr val="FFFFFF"/>
                </a:solidFill>
                <a:latin typeface="Calibri"/>
              </a:rPr>
              <a:t>E-Commerce</a:t>
            </a:r>
            <a:br>
              <a:rPr lang="en-US" sz="4400" b="1" dirty="0">
                <a:solidFill>
                  <a:srgbClr val="FFFFFF"/>
                </a:solidFill>
                <a:latin typeface="Calibri"/>
              </a:rPr>
            </a:br>
            <a:r>
              <a:rPr lang="en-US" sz="4400" b="1" dirty="0">
                <a:solidFill>
                  <a:srgbClr val="FFFFFF"/>
                </a:solidFill>
                <a:latin typeface="Calibri"/>
              </a:rPr>
              <a:t>Return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/>
            <a:r>
              <a:rPr lang="en-US" sz="2000" b="0" dirty="0">
                <a:solidFill>
                  <a:srgbClr val="DAE4F1"/>
                </a:solidFill>
                <a:latin typeface="Calibri"/>
              </a:rPr>
              <a:t>Understand Returns. Improve Product Experience. Reduce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7680960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FFFFFF"/>
                </a:solidFill>
                <a:latin typeface="Calibri"/>
              </a:rPr>
              <a:t>ShopVista Commerce Pvt. Ltd.  |  Data Science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768096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000" b="0" dirty="0">
                <a:solidFill>
                  <a:srgbClr val="A9B6C9"/>
                </a:solidFill>
                <a:latin typeface="Calibri"/>
              </a:rPr>
              <a:t>ShopVista Commerce Pvt. Ltd.  |  E-Commerce Return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54864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000" b="1" dirty="0">
                <a:solidFill>
                  <a:srgbClr val="14274A"/>
                </a:solidFill>
                <a:latin typeface="Calibri"/>
              </a:rP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/>
            <a:r>
              <a:rPr lang="en-US" sz="1400" b="0" dirty="0">
                <a:solidFill>
                  <a:srgbClr val="636E7D"/>
                </a:solidFill>
                <a:latin typeface="Calibri"/>
              </a:rPr>
              <a:t>Why are customers returning products, and what can the business improve?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309360" cy="4206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1000"/>
              </a:spcAft>
            </a:pPr>
            <a:r>
              <a:rPr lang="en-US" sz="1800" b="0" dirty="0">
                <a:solidFill>
                  <a:srgbClr val="283241"/>
                </a:solidFill>
                <a:latin typeface="Calibri"/>
              </a:rPr>
              <a:t>Returns increase reverse-logistics costs and can reduce customer satisfaction.</a:t>
            </a:r>
          </a:p>
          <a:p>
            <a:pPr>
              <a:spcAft>
                <a:spcPts val="1000"/>
              </a:spcAft>
            </a:pPr>
            <a:r>
              <a:rPr lang="en-US" sz="1800" b="0" dirty="0">
                <a:solidFill>
                  <a:srgbClr val="283241"/>
                </a:solidFill>
                <a:latin typeface="Calibri"/>
              </a:rPr>
              <a:t>Return information is spread across orders, products, customers, deliveries and return records.</a:t>
            </a:r>
          </a:p>
          <a:p>
            <a:pPr>
              <a:spcAft>
                <a:spcPts val="1000"/>
              </a:spcAft>
            </a:pPr>
            <a:r>
              <a:rPr lang="en-US" sz="1800" b="0" dirty="0">
                <a:solidFill>
                  <a:srgbClr val="283241"/>
                </a:solidFill>
                <a:latin typeface="Calibri"/>
              </a:rPr>
              <a:t>The goal is to combine the data, discover return patterns and recommend practical actions.</a:t>
            </a:r>
          </a:p>
          <a:p>
            <a:pPr>
              <a:spcAft>
                <a:spcPts val="1000"/>
              </a:spcAft>
            </a:pPr>
            <a:r>
              <a:rPr lang="en-US" sz="1800" b="0" dirty="0">
                <a:solidFill>
                  <a:srgbClr val="283241"/>
                </a:solidFill>
                <a:latin typeface="Calibri"/>
              </a:rPr>
              <a:t>Key question: which product and order characteristics are associated with higher return rates?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45920"/>
            <a:ext cx="405079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920240"/>
            <a:ext cx="3502152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PROJECT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377440"/>
            <a:ext cx="3502152" cy="4572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800" b="1" dirty="0">
                <a:solidFill>
                  <a:srgbClr val="1F9184"/>
                </a:solidFill>
                <a:latin typeface="Calibri"/>
              </a:rPr>
              <a:t>Return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017520"/>
            <a:ext cx="3502152" cy="32004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636E7D"/>
                </a:solidFill>
                <a:latin typeface="Calibri"/>
              </a:rPr>
              <a:t>Evidence-led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840480"/>
            <a:ext cx="405079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4114800"/>
            <a:ext cx="3502152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BUSINESS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572000"/>
            <a:ext cx="3502152" cy="4572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800" b="1" dirty="0">
                <a:solidFill>
                  <a:srgbClr val="EE9139"/>
                </a:solidFill>
                <a:latin typeface="Calibri"/>
              </a:rPr>
              <a:t>Fewer avoidable returns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212080"/>
            <a:ext cx="3502152" cy="32004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636E7D"/>
                </a:solidFill>
                <a:latin typeface="Calibri"/>
              </a:rPr>
              <a:t>Improve product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000" b="0" dirty="0">
                <a:solidFill>
                  <a:srgbClr val="636E7D"/>
                </a:solidFill>
                <a:latin typeface="Calibri"/>
              </a:rPr>
              <a:t>ShopVista Commerce Pvt. Ltd.  |  E-Commerce Return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400800"/>
            <a:ext cx="73152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0" dirty="0">
                <a:solidFill>
                  <a:srgbClr val="636E7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54864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000" b="1" dirty="0">
                <a:solidFill>
                  <a:srgbClr val="14274A"/>
                </a:solidFill>
                <a:latin typeface="Calibri"/>
              </a:rPr>
              <a:t>2. Dataset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/>
            <a:r>
              <a:rPr lang="en-US" sz="1400" b="0" dirty="0">
                <a:solidFill>
                  <a:srgbClr val="636E7D"/>
                </a:solidFill>
                <a:latin typeface="Calibri"/>
              </a:rPr>
              <a:t>Five related datasets were prepared for a unified order-level analysis.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99887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74519"/>
            <a:ext cx="1633118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600" b="1" dirty="0">
                <a:solidFill>
                  <a:srgbClr val="2A5CAA"/>
                </a:solidFill>
                <a:latin typeface="Calibri"/>
              </a:rPr>
              <a:t>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77440"/>
            <a:ext cx="1633118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200" b="0" dirty="0">
                <a:solidFill>
                  <a:srgbClr val="283241"/>
                </a:solidFill>
                <a:latin typeface="Calibri"/>
              </a:rPr>
              <a:t>Order, product, quantity, price, discount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67558" y="1645920"/>
            <a:ext cx="199887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0438" y="1874519"/>
            <a:ext cx="1633118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600" b="1" dirty="0">
                <a:solidFill>
                  <a:srgbClr val="2A5CAA"/>
                </a:solidFill>
                <a:latin typeface="Calibri"/>
              </a:rPr>
              <a:t>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0438" y="2377440"/>
            <a:ext cx="1633118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200" b="0" dirty="0">
                <a:solidFill>
                  <a:srgbClr val="283241"/>
                </a:solidFill>
                <a:latin typeface="Calibri"/>
              </a:rPr>
              <a:t>Category, brand, size, seller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5036" y="1645920"/>
            <a:ext cx="199887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7916" y="1874519"/>
            <a:ext cx="1633118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600" b="1" dirty="0">
                <a:solidFill>
                  <a:srgbClr val="2A5CAA"/>
                </a:solidFill>
                <a:latin typeface="Calibri"/>
              </a:rP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7916" y="2377440"/>
            <a:ext cx="1633118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200" b="0" dirty="0">
                <a:solidFill>
                  <a:srgbClr val="283241"/>
                </a:solidFill>
                <a:latin typeface="Calibri"/>
              </a:rPr>
              <a:t>Region and order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2515" y="1645920"/>
            <a:ext cx="199887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5395" y="1874519"/>
            <a:ext cx="1633118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600" b="1" dirty="0">
                <a:solidFill>
                  <a:srgbClr val="2A5CAA"/>
                </a:solidFill>
                <a:latin typeface="Calibri"/>
              </a:rPr>
              <a:t>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5395" y="2377440"/>
            <a:ext cx="1633118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200" b="0" dirty="0">
                <a:solidFill>
                  <a:srgbClr val="283241"/>
                </a:solidFill>
                <a:latin typeface="Calibri"/>
              </a:rPr>
              <a:t>Promised and delivered 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9993" y="1645920"/>
            <a:ext cx="199887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2873" y="1874519"/>
            <a:ext cx="1633118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600" b="1" dirty="0">
                <a:solidFill>
                  <a:srgbClr val="2A5CAA"/>
                </a:solidFill>
                <a:latin typeface="Calibri"/>
              </a:rPr>
              <a:t>Returns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2873" y="2377440"/>
            <a:ext cx="1633118" cy="8229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en-US" sz="1200" b="0" dirty="0">
                <a:solidFill>
                  <a:srgbClr val="283241"/>
                </a:solidFill>
                <a:latin typeface="Calibri"/>
              </a:rPr>
              <a:t>Return flag, reason, return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10908792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800" b="1" dirty="0">
                <a:solidFill>
                  <a:srgbClr val="14274A"/>
                </a:solidFill>
                <a:latin typeface="Calibri"/>
              </a:rPr>
              <a:t>Preparation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10908792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1000"/>
              </a:spcAft>
            </a:pPr>
            <a:r>
              <a:rPr lang="en-US" sz="1600" b="0" dirty="0">
                <a:solidFill>
                  <a:srgbClr val="283241"/>
                </a:solidFill>
                <a:latin typeface="Calibri"/>
              </a:rPr>
              <a:t>Inspect data types, missing values, duplicates and unusual values.</a:t>
            </a:r>
          </a:p>
          <a:p>
            <a:pPr>
              <a:spcAft>
                <a:spcPts val="1000"/>
              </a:spcAft>
            </a:pPr>
            <a:r>
              <a:rPr lang="en-US" sz="1600" b="0" dirty="0">
                <a:solidFill>
                  <a:srgbClr val="283241"/>
                </a:solidFill>
                <a:latin typeface="Calibri"/>
              </a:rPr>
              <a:t>Standardize inconsistent labels; address invalid dates and extreme discounts.</a:t>
            </a:r>
          </a:p>
          <a:p>
            <a:pPr>
              <a:spcAft>
                <a:spcPts val="1000"/>
              </a:spcAft>
            </a:pPr>
            <a:r>
              <a:rPr lang="en-US" sz="1600" b="0" dirty="0">
                <a:solidFill>
                  <a:srgbClr val="283241"/>
                </a:solidFill>
                <a:latin typeface="Calibri"/>
              </a:rPr>
              <a:t>Merge datasets at a suitable analysis level and engineer features for EDA and modeling.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000" b="0" dirty="0">
                <a:solidFill>
                  <a:srgbClr val="636E7D"/>
                </a:solidFill>
                <a:latin typeface="Calibri"/>
              </a:rPr>
              <a:t>ShopVista Commerce Pvt. Ltd.  |  E-Commerce Return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17352" y="6400800"/>
            <a:ext cx="73152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0" dirty="0">
                <a:solidFill>
                  <a:srgbClr val="636E7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54864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000" b="1" dirty="0">
                <a:solidFill>
                  <a:srgbClr val="14274A"/>
                </a:solidFill>
                <a:latin typeface="Calibri"/>
              </a:rPr>
              <a:t>3. Overall Return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/>
            <a:r>
              <a:rPr lang="en-US" sz="1400" b="0" dirty="0">
                <a:solidFill>
                  <a:srgbClr val="636E7D"/>
                </a:solidFill>
                <a:latin typeface="Calibri"/>
              </a:rPr>
              <a:t>A baseline view of the 600-order dataset.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52145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972818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TOTAL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972818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200" b="1" dirty="0">
                <a:solidFill>
                  <a:srgbClr val="2A5CAA"/>
                </a:solidFill>
                <a:latin typeface="Calibri"/>
              </a:rPr>
              <a:t>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5858" y="1645920"/>
            <a:ext cx="252145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0178" y="2103120"/>
            <a:ext cx="1972818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RETURNED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0178" y="2514600"/>
            <a:ext cx="1972818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200" b="1" dirty="0">
                <a:solidFill>
                  <a:srgbClr val="EE9139"/>
                </a:solidFill>
                <a:latin typeface="Calibri"/>
              </a:rPr>
              <a:t>138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645920"/>
            <a:ext cx="252145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5956" y="2103120"/>
            <a:ext cx="1972818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NON-RETURNED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956" y="2514600"/>
            <a:ext cx="1972818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200" b="1" dirty="0">
                <a:solidFill>
                  <a:srgbClr val="1F9184"/>
                </a:solidFill>
                <a:latin typeface="Calibri"/>
              </a:rPr>
              <a:t>462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7413" y="1645920"/>
            <a:ext cx="252145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1734" y="2103120"/>
            <a:ext cx="1972818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RETURN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1734" y="2514600"/>
            <a:ext cx="1972818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200" b="1" dirty="0">
                <a:solidFill>
                  <a:srgbClr val="BE4141"/>
                </a:solidFill>
                <a:latin typeface="Calibri"/>
              </a:rPr>
              <a:t>23.00%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10908792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800" b="1" dirty="0">
                <a:solidFill>
                  <a:srgbClr val="14274A"/>
                </a:solidFill>
                <a:latin typeface="Calibri"/>
              </a:rP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0908792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1000"/>
              </a:spcAft>
            </a:pPr>
            <a:r>
              <a:rPr lang="en-US" sz="1600" b="0" dirty="0">
                <a:solidFill>
                  <a:srgbClr val="283241"/>
                </a:solidFill>
                <a:latin typeface="Calibri"/>
              </a:rPr>
              <a:t>About 23 in every 100 orders were returned in this dataset.</a:t>
            </a:r>
          </a:p>
          <a:p>
            <a:pPr>
              <a:spcAft>
                <a:spcPts val="1000"/>
              </a:spcAft>
            </a:pPr>
            <a:r>
              <a:rPr lang="en-US" sz="1600" b="0" dirty="0">
                <a:solidFill>
                  <a:srgbClr val="283241"/>
                </a:solidFill>
                <a:latin typeface="Calibri"/>
              </a:rPr>
              <a:t>The return rate is a useful baseline for tracking future improvement.</a:t>
            </a:r>
          </a:p>
          <a:p>
            <a:pPr>
              <a:spcAft>
                <a:spcPts val="1000"/>
              </a:spcAft>
            </a:pPr>
            <a:r>
              <a:rPr lang="en-US" sz="1600" b="0" dirty="0">
                <a:solidFill>
                  <a:srgbClr val="283241"/>
                </a:solidFill>
                <a:latin typeface="Calibri"/>
              </a:rPr>
              <a:t>Prioritize investigations by return rate and volume, not rate alone.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000" b="0" dirty="0">
                <a:solidFill>
                  <a:srgbClr val="636E7D"/>
                </a:solidFill>
                <a:latin typeface="Calibri"/>
              </a:rPr>
              <a:t>ShopVista Commerce Pvt. Ltd.  |  E-Commerce Return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400800"/>
            <a:ext cx="73152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0" dirty="0">
                <a:solidFill>
                  <a:srgbClr val="636E7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54864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000" b="1" dirty="0">
                <a:solidFill>
                  <a:srgbClr val="14274A"/>
                </a:solidFill>
                <a:latin typeface="Calibri"/>
              </a:rPr>
              <a:t>4. Category-wise Return 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/>
            <a:r>
              <a:rPr lang="en-US" sz="1400" b="0" dirty="0">
                <a:solidFill>
                  <a:srgbClr val="636E7D"/>
                </a:solidFill>
                <a:latin typeface="Calibri"/>
              </a:rPr>
              <a:t>Home &amp; Kitchen has the highest observed category return rate.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040880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600" b="1" dirty="0">
                <a:solidFill>
                  <a:srgbClr val="14274A"/>
                </a:solidFill>
                <a:latin typeface="Calibri"/>
              </a:rPr>
              <a:t>Return rate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82880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283241"/>
                </a:solidFill>
                <a:latin typeface="Calibri"/>
              </a:rPr>
              <a:t>Home &amp; Kitchen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2468880"/>
            <a:ext cx="4114800" cy="274320"/>
          </a:xfrm>
          <a:prstGeom prst="rect">
            <a:avLst/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2468880"/>
            <a:ext cx="3344744" cy="274320"/>
          </a:xfrm>
          <a:prstGeom prst="rect">
            <a:avLst/>
          </a:prstGeom>
          <a:solidFill>
            <a:srgbClr val="EE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468880"/>
            <a:ext cx="82296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283241"/>
                </a:solidFill>
                <a:latin typeface="Calibri"/>
              </a:rPr>
              <a:t>28.45%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283241"/>
                </a:solidFill>
                <a:latin typeface="Calibri"/>
              </a:rPr>
              <a:t>Clothing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3657600"/>
            <a:ext cx="4114800" cy="274320"/>
          </a:xfrm>
          <a:prstGeom prst="rect">
            <a:avLst/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3657600"/>
            <a:ext cx="2713416" cy="27432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657600"/>
            <a:ext cx="82296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283241"/>
                </a:solidFill>
                <a:latin typeface="Calibri"/>
              </a:rPr>
              <a:t>23.08%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82880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283241"/>
                </a:solidFill>
                <a:latin typeface="Calibri"/>
              </a:rPr>
              <a:t>Electronics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4846320"/>
            <a:ext cx="4114800" cy="274320"/>
          </a:xfrm>
          <a:prstGeom prst="rect">
            <a:avLst/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4846320"/>
            <a:ext cx="2651106" cy="274320"/>
          </a:xfrm>
          <a:prstGeom prst="rect">
            <a:avLst/>
          </a:prstGeom>
          <a:solidFill>
            <a:srgbClr val="1F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4846320"/>
            <a:ext cx="82296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283241"/>
                </a:solidFill>
                <a:latin typeface="Calibri"/>
              </a:rPr>
              <a:t>22.55%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645920"/>
            <a:ext cx="331927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920240"/>
            <a:ext cx="2770632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TOP 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77440"/>
            <a:ext cx="2770632" cy="4572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800" b="1" dirty="0">
                <a:solidFill>
                  <a:srgbClr val="EE9139"/>
                </a:solidFill>
                <a:latin typeface="Calibri"/>
              </a:rPr>
              <a:t>Home &amp; Kitchen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017520"/>
            <a:ext cx="2770632" cy="32004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636E7D"/>
                </a:solidFill>
                <a:latin typeface="Calibri"/>
              </a:rPr>
              <a:t>28.45% return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023360"/>
            <a:ext cx="3319272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600" b="1" dirty="0">
                <a:solidFill>
                  <a:srgbClr val="14274A"/>
                </a:solidFill>
                <a:latin typeface="Calibri"/>
              </a:rPr>
              <a:t>Recommended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480560"/>
            <a:ext cx="3319272" cy="15544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/>
            <a:r>
              <a:rPr lang="en-US" sz="1400" b="0" dirty="0">
                <a:solidFill>
                  <a:srgbClr val="283241"/>
                </a:solidFill>
                <a:latin typeface="Calibri"/>
              </a:rPr>
              <a:t>Inspect product quality, packaging and product-page accuracy for high-return items.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000" b="0" dirty="0">
                <a:solidFill>
                  <a:srgbClr val="636E7D"/>
                </a:solidFill>
                <a:latin typeface="Calibri"/>
              </a:rPr>
              <a:t>ShopVista Commerce Pvt. Ltd.  |  E-Commerce Return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400800"/>
            <a:ext cx="73152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0" dirty="0">
                <a:solidFill>
                  <a:srgbClr val="636E7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54864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000" b="1" dirty="0">
                <a:solidFill>
                  <a:srgbClr val="14274A"/>
                </a:solidFill>
                <a:latin typeface="Calibri"/>
              </a:rPr>
              <a:t>5. Why Are Products Returned?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/>
            <a:r>
              <a:rPr lang="en-US" sz="1400" b="0" dirty="0">
                <a:solidFill>
                  <a:srgbClr val="636E7D"/>
                </a:solidFill>
                <a:latin typeface="Calibri"/>
              </a:rPr>
              <a:t>Recorded return reasons point to quality and product-fit opportunities.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040880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600" b="1" dirty="0">
                <a:solidFill>
                  <a:srgbClr val="14274A"/>
                </a:solidFill>
                <a:latin typeface="Calibri"/>
              </a:rPr>
              <a:t>Recorded return reasons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82880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283241"/>
                </a:solidFill>
                <a:latin typeface="Calibri"/>
              </a:rPr>
              <a:t>Damaged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2286000"/>
            <a:ext cx="4114800" cy="274320"/>
          </a:xfrm>
          <a:prstGeom prst="rect">
            <a:avLst/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2286000"/>
            <a:ext cx="3573379" cy="274320"/>
          </a:xfrm>
          <a:prstGeom prst="rect">
            <a:avLst/>
          </a:prstGeom>
          <a:solidFill>
            <a:srgbClr val="EE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82296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283241"/>
                </a:solidFill>
                <a:latin typeface="Calibr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82880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283241"/>
                </a:solidFill>
                <a:latin typeface="Calibri"/>
              </a:rPr>
              <a:t>Wrong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3017520"/>
            <a:ext cx="4114800" cy="274320"/>
          </a:xfrm>
          <a:prstGeom prst="rect">
            <a:avLst/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3017520"/>
            <a:ext cx="3465095" cy="27432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017520"/>
            <a:ext cx="82296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283241"/>
                </a:solidFill>
                <a:latin typeface="Calibri"/>
              </a:rPr>
              <a:t>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182880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283241"/>
                </a:solidFill>
                <a:latin typeface="Calibri"/>
              </a:rPr>
              <a:t>Not as described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3749039"/>
            <a:ext cx="4114800" cy="274320"/>
          </a:xfrm>
          <a:prstGeom prst="rect">
            <a:avLst/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3749039"/>
            <a:ext cx="2490536" cy="274320"/>
          </a:xfrm>
          <a:prstGeom prst="rect">
            <a:avLst/>
          </a:prstGeom>
          <a:solidFill>
            <a:srgbClr val="1F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749039"/>
            <a:ext cx="82296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283241"/>
                </a:solidFill>
                <a:latin typeface="Calibri"/>
              </a:rP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182880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283241"/>
                </a:solidFill>
                <a:latin typeface="Calibri"/>
              </a:rPr>
              <a:t>Late delivery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4480560"/>
            <a:ext cx="4114800" cy="274320"/>
          </a:xfrm>
          <a:prstGeom prst="rect">
            <a:avLst/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40" y="4480560"/>
            <a:ext cx="2165684" cy="2743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480560"/>
            <a:ext cx="82296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283241"/>
                </a:solidFill>
                <a:latin typeface="Calibr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182880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283241"/>
                </a:solidFill>
                <a:latin typeface="Calibri"/>
              </a:rPr>
              <a:t>Unknown / missing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5212080"/>
            <a:ext cx="4114800" cy="274320"/>
          </a:xfrm>
          <a:prstGeom prst="rect">
            <a:avLst/>
          </a:prstGeom>
          <a:solidFill>
            <a:srgbClr val="E2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6040" y="5212080"/>
            <a:ext cx="1840831" cy="274320"/>
          </a:xfrm>
          <a:prstGeom prst="rect">
            <a:avLst/>
          </a:prstGeom>
          <a:solidFill>
            <a:srgbClr val="63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5212080"/>
            <a:ext cx="82296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283241"/>
                </a:solidFill>
                <a:latin typeface="Calibri"/>
              </a:rPr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645920"/>
            <a:ext cx="3319272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600" b="1" dirty="0">
                <a:solidFill>
                  <a:srgbClr val="14274A"/>
                </a:solidFill>
                <a:latin typeface="Calibri"/>
              </a:rPr>
              <a:t>Actions to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194560"/>
            <a:ext cx="3319272" cy="3291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1000"/>
              </a:spcAft>
            </a:pPr>
            <a:r>
              <a:rPr lang="en-US" sz="1400" b="0" dirty="0">
                <a:solidFill>
                  <a:srgbClr val="283241"/>
                </a:solidFill>
                <a:latin typeface="Calibri"/>
              </a:rPr>
              <a:t>Strengthen packaging and quality checks.</a:t>
            </a:r>
          </a:p>
          <a:p>
            <a:pPr>
              <a:spcAft>
                <a:spcPts val="1000"/>
              </a:spcAft>
            </a:pPr>
            <a:r>
              <a:rPr lang="en-US" sz="1400" b="0" dirty="0">
                <a:solidFill>
                  <a:srgbClr val="283241"/>
                </a:solidFill>
                <a:latin typeface="Calibri"/>
              </a:rPr>
              <a:t>Improve size guides and fit information.</a:t>
            </a:r>
          </a:p>
          <a:p>
            <a:pPr>
              <a:spcAft>
                <a:spcPts val="1000"/>
              </a:spcAft>
            </a:pPr>
            <a:r>
              <a:rPr lang="en-US" sz="1400" b="0" dirty="0">
                <a:solidFill>
                  <a:srgbClr val="283241"/>
                </a:solidFill>
                <a:latin typeface="Calibri"/>
              </a:rPr>
              <a:t>Use clearer images and descriptions.</a:t>
            </a:r>
          </a:p>
          <a:p>
            <a:pPr>
              <a:spcAft>
                <a:spcPts val="1000"/>
              </a:spcAft>
            </a:pPr>
            <a:r>
              <a:rPr lang="en-US" sz="1400" b="0" dirty="0">
                <a:solidFill>
                  <a:srgbClr val="283241"/>
                </a:solidFill>
                <a:latin typeface="Calibri"/>
              </a:rPr>
              <a:t>Audit missing return-reason capture.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97880"/>
            <a:ext cx="10908792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100" b="0" dirty="0">
                <a:solidFill>
                  <a:srgbClr val="636E7D"/>
                </a:solidFill>
                <a:latin typeface="Calibri"/>
              </a:rPr>
              <a:t>Counts shown are recorded return-reason counts; unknown/missing reasons may limit interpretation.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000" b="0" dirty="0">
                <a:solidFill>
                  <a:srgbClr val="636E7D"/>
                </a:solidFill>
                <a:latin typeface="Calibri"/>
              </a:rPr>
              <a:t>ShopVista Commerce Pvt. Ltd.  |  E-Commerce Return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17352" y="6400800"/>
            <a:ext cx="73152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0" dirty="0">
                <a:solidFill>
                  <a:srgbClr val="636E7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54864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000" b="1" dirty="0">
                <a:solidFill>
                  <a:srgbClr val="14274A"/>
                </a:solidFill>
                <a:latin typeface="Calibri"/>
              </a:rPr>
              <a:t>6. Discounts, Delivery &amp; Sellers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/>
            <a:r>
              <a:rPr lang="en-US" sz="1400" b="0" dirty="0">
                <a:solidFill>
                  <a:srgbClr val="636E7D"/>
                </a:solidFill>
                <a:latin typeface="Calibri"/>
              </a:rPr>
              <a:t>Use the prepared analysis tables to identify segments that need attention.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53384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04744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DISCOUNTS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904744" cy="4572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800" b="1" dirty="0">
                <a:solidFill>
                  <a:srgbClr val="2A5CAA"/>
                </a:solidFill>
                <a:latin typeface="Calibri"/>
              </a:rPr>
              <a:t>Compare return 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904744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636E7D"/>
                </a:solidFill>
                <a:latin typeface="Calibri"/>
              </a:rPr>
              <a:t>Across discount bands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7784" y="1645920"/>
            <a:ext cx="3453384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2104" y="1920240"/>
            <a:ext cx="2904744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2104" y="2377440"/>
            <a:ext cx="2904744" cy="4572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800" b="1" dirty="0">
                <a:solidFill>
                  <a:srgbClr val="EE9139"/>
                </a:solidFill>
                <a:latin typeface="Calibri"/>
              </a:rPr>
              <a:t>Compare late vs on-time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104" y="2926080"/>
            <a:ext cx="2904744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636E7D"/>
                </a:solidFill>
                <a:latin typeface="Calibri"/>
              </a:rPr>
              <a:t>Check association with returns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5488" y="1645920"/>
            <a:ext cx="3453384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9808" y="1920240"/>
            <a:ext cx="2904744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SELLERS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9808" y="2377440"/>
            <a:ext cx="2904744" cy="4572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800" b="1" dirty="0">
                <a:solidFill>
                  <a:srgbClr val="1F9184"/>
                </a:solidFill>
                <a:latin typeface="Calibri"/>
              </a:rPr>
              <a:t>Rank by return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9808" y="2926080"/>
            <a:ext cx="2904744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636E7D"/>
                </a:solidFill>
                <a:latin typeface="Calibri"/>
              </a:rPr>
              <a:t>Consider order volume too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10908792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800" b="1" dirty="0">
                <a:solidFill>
                  <a:srgbClr val="14274A"/>
                </a:solidFill>
                <a:latin typeface="Calibri"/>
              </a:rPr>
              <a:t>Interpretation guardrail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0908792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1000"/>
              </a:spcAft>
            </a:pPr>
            <a:r>
              <a:rPr lang="en-US" sz="1600" b="0" dirty="0">
                <a:solidFill>
                  <a:srgbClr val="283241"/>
                </a:solidFill>
                <a:latin typeface="Calibri"/>
              </a:rPr>
              <a:t>Do not assume discounts or late delivery cause returns without evidence from the comparison.</a:t>
            </a:r>
          </a:p>
          <a:p>
            <a:pPr>
              <a:spcAft>
                <a:spcPts val="1000"/>
              </a:spcAft>
            </a:pPr>
            <a:r>
              <a:rPr lang="en-US" sz="1600" b="0" dirty="0">
                <a:solidFill>
                  <a:srgbClr val="283241"/>
                </a:solidFill>
                <a:latin typeface="Calibri"/>
              </a:rPr>
              <a:t>Check sample sizes and rates together before escalating a seller or segment.</a:t>
            </a:r>
          </a:p>
          <a:p>
            <a:pPr>
              <a:spcAft>
                <a:spcPts val="1000"/>
              </a:spcAft>
            </a:pPr>
            <a:r>
              <a:rPr lang="en-US" sz="1600" b="0" dirty="0">
                <a:solidFill>
                  <a:srgbClr val="283241"/>
                </a:solidFill>
                <a:latin typeface="Calibri"/>
              </a:rPr>
              <a:t>Use these analyses to prioritize follow-up investigation and operational experiments.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000" b="0" dirty="0">
                <a:solidFill>
                  <a:srgbClr val="636E7D"/>
                </a:solidFill>
                <a:latin typeface="Calibri"/>
              </a:rPr>
              <a:t>ShopVista Commerce Pvt. Ltd.  |  E-Commerce Return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400800"/>
            <a:ext cx="73152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0" dirty="0">
                <a:solidFill>
                  <a:srgbClr val="636E7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54864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000" b="1" dirty="0">
                <a:solidFill>
                  <a:srgbClr val="14274A"/>
                </a:solidFill>
                <a:latin typeface="Calibri"/>
              </a:rPr>
              <a:t>7. Random Forest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/>
            <a:r>
              <a:rPr lang="en-US" sz="1400" b="0" dirty="0">
                <a:solidFill>
                  <a:srgbClr val="636E7D"/>
                </a:solidFill>
                <a:latin typeface="Calibri"/>
              </a:rPr>
              <a:t>The model was evaluated, but its current return-detection performance is limited.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52145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972818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972818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200" b="1" dirty="0">
                <a:solidFill>
                  <a:srgbClr val="2A5CAA"/>
                </a:solidFill>
                <a:latin typeface="Calibri"/>
              </a:rPr>
              <a:t>78%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972818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636E7D"/>
                </a:solidFill>
                <a:latin typeface="Calibri"/>
              </a:rPr>
              <a:t>Overall correct predictions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5858" y="1645920"/>
            <a:ext cx="252145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0178" y="1874519"/>
            <a:ext cx="1972818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0178" y="2286000"/>
            <a:ext cx="1972818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200" b="1" dirty="0">
                <a:solidFill>
                  <a:srgbClr val="BE4141"/>
                </a:solidFill>
                <a:latin typeface="Calibri"/>
              </a:rPr>
              <a:t>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0178" y="2971800"/>
            <a:ext cx="1972818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636E7D"/>
                </a:solidFill>
                <a:latin typeface="Calibri"/>
              </a:rPr>
              <a:t>Returned orders detected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645920"/>
            <a:ext cx="252145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1874519"/>
            <a:ext cx="1972818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ROC-AUC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286000"/>
            <a:ext cx="1972818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200" b="1" dirty="0">
                <a:solidFill>
                  <a:srgbClr val="EE9139"/>
                </a:solidFill>
                <a:latin typeface="Calibri"/>
              </a:rPr>
              <a:t>0.3841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971800"/>
            <a:ext cx="1972818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636E7D"/>
                </a:solidFill>
                <a:latin typeface="Calibri"/>
              </a:rPr>
              <a:t>Discrimination metric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7413" y="1645920"/>
            <a:ext cx="252145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1734" y="1874519"/>
            <a:ext cx="1972818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1" dirty="0">
                <a:solidFill>
                  <a:srgbClr val="636E7D"/>
                </a:solidFill>
                <a:latin typeface="Calibri"/>
              </a:rPr>
              <a:t>MODEL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1734" y="2286000"/>
            <a:ext cx="1972818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200" b="1" dirty="0">
                <a:solidFill>
                  <a:srgbClr val="1F9184"/>
                </a:solidFill>
                <a:latin typeface="Calibri"/>
              </a:rP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1734" y="2971800"/>
            <a:ext cx="1972818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200" b="0" dirty="0">
                <a:solidFill>
                  <a:srgbClr val="636E7D"/>
                </a:solidFill>
                <a:latin typeface="Calibri"/>
              </a:rPr>
              <a:t>Not for operational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10908792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800" b="1" dirty="0">
                <a:solidFill>
                  <a:srgbClr val="14274A"/>
                </a:solidFill>
                <a:latin typeface="Calibri"/>
              </a:rPr>
              <a:t>What this 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10908792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1000"/>
              </a:spcAft>
            </a:pPr>
            <a:r>
              <a:rPr lang="en-US" sz="1600" b="0" dirty="0">
                <a:solidFill>
                  <a:srgbClr val="283241"/>
                </a:solidFill>
                <a:latin typeface="Calibri"/>
              </a:rPr>
              <a:t>The model identified only a small share of actual returned orders.</a:t>
            </a:r>
          </a:p>
          <a:p>
            <a:pPr>
              <a:spcAft>
                <a:spcPts val="1000"/>
              </a:spcAft>
            </a:pPr>
            <a:r>
              <a:rPr lang="en-US" sz="1600" b="0" dirty="0">
                <a:solidFill>
                  <a:srgbClr val="283241"/>
                </a:solidFill>
                <a:latin typeface="Calibri"/>
              </a:rPr>
              <a:t>Accuracy alone is misleading when the target classes are imbalanced.</a:t>
            </a:r>
          </a:p>
          <a:p>
            <a:pPr>
              <a:spcAft>
                <a:spcPts val="1000"/>
              </a:spcAft>
            </a:pPr>
            <a:r>
              <a:rPr lang="en-US" sz="1600" b="0" dirty="0">
                <a:solidFill>
                  <a:srgbClr val="283241"/>
                </a:solidFill>
                <a:latin typeface="Calibri"/>
              </a:rPr>
              <a:t>Treat feature importance as exploratory; do not interpret it as proof of causation.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000" b="0" dirty="0">
                <a:solidFill>
                  <a:srgbClr val="636E7D"/>
                </a:solidFill>
                <a:latin typeface="Calibri"/>
              </a:rPr>
              <a:t>ShopVista Commerce Pvt. Ltd.  |  E-Commerce Return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17352" y="6400800"/>
            <a:ext cx="73152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0" dirty="0">
                <a:solidFill>
                  <a:srgbClr val="636E7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54864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000" b="1" dirty="0">
                <a:solidFill>
                  <a:srgbClr val="14274A"/>
                </a:solidFill>
                <a:latin typeface="Calibri"/>
              </a:rPr>
              <a:t>8. Recommendations &amp;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/>
            <a:r>
              <a:rPr lang="en-US" sz="1400" b="0" dirty="0">
                <a:solidFill>
                  <a:srgbClr val="636E7D"/>
                </a:solidFill>
                <a:latin typeface="Calibri"/>
              </a:rPr>
              <a:t>Practical actions tied to the observed patterns.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09928"/>
            <a:ext cx="512064" cy="512064"/>
          </a:xfrm>
          <a:prstGeom prst="ellipse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12064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2834640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600" b="1" dirty="0">
                <a:solidFill>
                  <a:srgbClr val="14274A"/>
                </a:solidFill>
                <a:latin typeface="Calibri"/>
              </a:rPr>
              <a:t>Quality &amp; packaging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6976872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400" b="0" dirty="0">
                <a:solidFill>
                  <a:srgbClr val="283241"/>
                </a:solidFill>
                <a:latin typeface="Calibri"/>
              </a:rPr>
              <a:t>Audit damaged-product returns; strengthen handling and packaging checks.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06040"/>
            <a:ext cx="512064" cy="512064"/>
          </a:xfrm>
          <a:prstGeom prst="ellipse">
            <a:avLst/>
          </a:prstGeom>
          <a:solidFill>
            <a:srgbClr val="1F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512064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42032"/>
            <a:ext cx="2834640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600" b="1" dirty="0">
                <a:solidFill>
                  <a:srgbClr val="14274A"/>
                </a:solidFill>
                <a:latin typeface="Calibri"/>
              </a:rPr>
              <a:t>Product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42032"/>
            <a:ext cx="6976872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400" b="0" dirty="0">
                <a:solidFill>
                  <a:srgbClr val="283241"/>
                </a:solidFill>
                <a:latin typeface="Calibri"/>
              </a:rPr>
              <a:t>Improve size guides, photos and descriptions for affected products.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502151"/>
            <a:ext cx="512064" cy="512064"/>
          </a:xfrm>
          <a:prstGeom prst="ellipse">
            <a:avLst/>
          </a:prstGeom>
          <a:solidFill>
            <a:srgbClr val="EE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38144"/>
            <a:ext cx="512064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38144"/>
            <a:ext cx="2834640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600" b="1" dirty="0">
                <a:solidFill>
                  <a:srgbClr val="14274A"/>
                </a:solidFill>
                <a:latin typeface="Calibri"/>
              </a:rPr>
              <a:t>Delivery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38144"/>
            <a:ext cx="6976872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400" b="0" dirty="0">
                <a:solidFill>
                  <a:srgbClr val="283241"/>
                </a:solidFill>
                <a:latin typeface="Calibri"/>
              </a:rPr>
              <a:t>Track promised vs actual delivery and investigate late-delivery cases.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398264"/>
            <a:ext cx="512064" cy="512064"/>
          </a:xfrm>
          <a:prstGeom prst="ellipse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34256"/>
            <a:ext cx="512064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34256"/>
            <a:ext cx="2834640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600" b="1" dirty="0">
                <a:solidFill>
                  <a:srgbClr val="14274A"/>
                </a:solidFill>
                <a:latin typeface="Calibri"/>
              </a:rPr>
              <a:t>Seller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334256"/>
            <a:ext cx="6976872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400" b="0" dirty="0">
                <a:solidFill>
                  <a:srgbClr val="283241"/>
                </a:solidFill>
                <a:latin typeface="Calibri"/>
              </a:rPr>
              <a:t>Compare seller return rates alongside order volume and return reasons.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294376"/>
            <a:ext cx="512064" cy="512064"/>
          </a:xfrm>
          <a:prstGeom prst="ellipse">
            <a:avLst/>
          </a:prstGeom>
          <a:solidFill>
            <a:srgbClr val="2A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30368"/>
            <a:ext cx="512064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30368"/>
            <a:ext cx="2834640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600" b="1" dirty="0">
                <a:solidFill>
                  <a:srgbClr val="14274A"/>
                </a:solidFill>
                <a:latin typeface="Calibri"/>
              </a:rPr>
              <a:t>Data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230368"/>
            <a:ext cx="6976872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400" b="0" dirty="0">
                <a:solidFill>
                  <a:srgbClr val="283241"/>
                </a:solidFill>
                <a:latin typeface="Calibri"/>
              </a:rPr>
              <a:t>Capture a return reason consistently and review unknown/missing records.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000" b="0" dirty="0">
                <a:solidFill>
                  <a:srgbClr val="636E7D"/>
                </a:solidFill>
                <a:latin typeface="Calibri"/>
              </a:rPr>
              <a:t>ShopVista Commerce Pvt. Ltd.  |  E-Commerce Return 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17352" y="6400800"/>
            <a:ext cx="73152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0" dirty="0">
                <a:solidFill>
                  <a:srgbClr val="636E7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3000" b="1" dirty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08792" cy="11887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/>
            <a:r>
              <a:rPr lang="en-US" sz="2200" b="1" dirty="0">
                <a:solidFill>
                  <a:srgbClr val="FFFFFF"/>
                </a:solidFill>
                <a:latin typeface="Calibri"/>
              </a:rPr>
              <a:t>The analysis establishes a 23% return-rate baseline and highlights product quality, sizing and product-information issues as key areas to investigate.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08792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1200"/>
              </a:spcAft>
            </a:pPr>
            <a:r>
              <a:rPr lang="en-US" sz="1800" b="0" dirty="0">
                <a:solidFill>
                  <a:srgbClr val="FFFFFF"/>
                </a:solidFill>
                <a:latin typeface="Calibri"/>
              </a:rPr>
              <a:t>Prioritize high-return categories and the most frequent recorded reasons.</a:t>
            </a:r>
          </a:p>
          <a:p>
            <a:pPr>
              <a:spcAft>
                <a:spcPts val="1200"/>
              </a:spcAft>
            </a:pPr>
            <a:r>
              <a:rPr lang="en-US" sz="1800" b="0" dirty="0">
                <a:solidFill>
                  <a:srgbClr val="FFFFFF"/>
                </a:solidFill>
                <a:latin typeface="Calibri"/>
              </a:rPr>
              <a:t>Use discount, delivery and seller analyses to validate specific opportunities.</a:t>
            </a:r>
          </a:p>
          <a:p>
            <a:pPr>
              <a:spcAft>
                <a:spcPts val="1200"/>
              </a:spcAft>
            </a:pPr>
            <a:r>
              <a:rPr lang="en-US" sz="1800" b="0" dirty="0">
                <a:solidFill>
                  <a:srgbClr val="FFFFFF"/>
                </a:solidFill>
                <a:latin typeface="Calibri"/>
              </a:rPr>
              <a:t>Treat the current Random Forest as a baseline because recall and ROC-AUC are weak.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600" b="1" dirty="0">
                <a:solidFill>
                  <a:srgbClr val="EE9139"/>
                </a:solidFill>
                <a:latin typeface="Calibri"/>
              </a:rPr>
              <a:t>Goal: reduce avoidable returns through measurable, data-driven improvements.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/>
            <a:r>
              <a:rPr lang="en-US" sz="1000" b="0" dirty="0">
                <a:solidFill>
                  <a:srgbClr val="A9B6C9"/>
                </a:solidFill>
                <a:latin typeface="Calibri"/>
              </a:rPr>
              <a:t>ShopVista Commerce Pvt. Ltd.  |  E-Commerce Return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00800"/>
            <a:ext cx="73152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0" dirty="0">
                <a:solidFill>
                  <a:srgbClr val="A9B6C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